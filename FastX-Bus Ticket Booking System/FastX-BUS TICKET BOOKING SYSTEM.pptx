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70" r:id="rId7"/>
    <p:sldId id="261" r:id="rId8"/>
    <p:sldId id="264" r:id="rId9"/>
    <p:sldId id="267" r:id="rId10"/>
    <p:sldId id="268" r:id="rId11"/>
    <p:sldId id="271" r:id="rId12"/>
    <p:sldId id="272" r:id="rId13"/>
    <p:sldId id="273" r:id="rId14"/>
    <p:sldId id="274" r:id="rId15"/>
    <p:sldId id="276"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48" d="100"/>
          <a:sy n="48" d="100"/>
        </p:scale>
        <p:origin x="67" y="7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4/1/2026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4/1/2026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4/1/2026</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4/1/2026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170AF-D5B6-C768-5BB1-0BE7403DFA1A}"/>
              </a:ext>
            </a:extLst>
          </p:cNvPr>
          <p:cNvSpPr>
            <a:spLocks noGrp="1"/>
          </p:cNvSpPr>
          <p:nvPr>
            <p:ph type="ctrTitle"/>
          </p:nvPr>
        </p:nvSpPr>
        <p:spPr>
          <a:xfrm>
            <a:off x="480372" y="1201373"/>
            <a:ext cx="9882828" cy="1646302"/>
          </a:xfrm>
        </p:spPr>
        <p:txBody>
          <a:bodyPr/>
          <a:lstStyle/>
          <a:p>
            <a:pPr algn="just"/>
            <a:r>
              <a:rPr lang="en-IN" dirty="0">
                <a:solidFill>
                  <a:schemeClr val="accent2"/>
                </a:solidFill>
              </a:rPr>
              <a:t>BUS TICKET BOOKING SYSTEM-</a:t>
            </a:r>
            <a:br>
              <a:rPr lang="en-IN" dirty="0">
                <a:solidFill>
                  <a:schemeClr val="accent2"/>
                </a:solidFill>
              </a:rPr>
            </a:br>
            <a:r>
              <a:rPr lang="en-IN" dirty="0" err="1">
                <a:solidFill>
                  <a:schemeClr val="accent2"/>
                </a:solidFill>
              </a:rPr>
              <a:t>FastX</a:t>
            </a:r>
            <a:endParaRPr lang="en-IN" dirty="0">
              <a:solidFill>
                <a:schemeClr val="accent2"/>
              </a:solidFill>
            </a:endParaRPr>
          </a:p>
        </p:txBody>
      </p:sp>
      <p:sp>
        <p:nvSpPr>
          <p:cNvPr id="3" name="Subtitle 2">
            <a:extLst>
              <a:ext uri="{FF2B5EF4-FFF2-40B4-BE49-F238E27FC236}">
                <a16:creationId xmlns:a16="http://schemas.microsoft.com/office/drawing/2014/main" id="{5DDD2535-F10D-BB6D-634D-A2CB379B134C}"/>
              </a:ext>
            </a:extLst>
          </p:cNvPr>
          <p:cNvSpPr>
            <a:spLocks noGrp="1"/>
          </p:cNvSpPr>
          <p:nvPr>
            <p:ph type="subTitle" idx="1"/>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Trainer</a:t>
            </a:r>
            <a:r>
              <a:rPr lang="en-US" dirty="0">
                <a:solidFill>
                  <a:schemeClr val="tx1"/>
                </a:solidFill>
                <a:latin typeface="Times New Roman" panose="02020603050405020304" pitchFamily="18" charset="0"/>
                <a:cs typeface="Times New Roman" panose="02020603050405020304" pitchFamily="18" charset="0"/>
              </a:rPr>
              <a:t>: </a:t>
            </a:r>
            <a:r>
              <a:rPr lang="en-IN" dirty="0">
                <a:solidFill>
                  <a:schemeClr val="tx1"/>
                </a:solidFill>
                <a:latin typeface="Times New Roman" panose="02020603050405020304" pitchFamily="18" charset="0"/>
                <a:cs typeface="Times New Roman" panose="02020603050405020304" pitchFamily="18" charset="0"/>
              </a:rPr>
              <a:t>JAVEED MOHAMMED HUSNUDDIN</a:t>
            </a:r>
            <a:br>
              <a:rPr lang="en-IN" dirty="0">
                <a:solidFill>
                  <a:schemeClr val="tx1"/>
                </a:solidFill>
                <a:latin typeface="Times New Roman" panose="02020603050405020304" pitchFamily="18" charset="0"/>
                <a:cs typeface="Times New Roman" panose="02020603050405020304" pitchFamily="18" charset="0"/>
              </a:rPr>
            </a:br>
            <a:r>
              <a:rPr lang="en-US" b="1" dirty="0">
                <a:solidFill>
                  <a:schemeClr val="tx1"/>
                </a:solidFill>
                <a:latin typeface="Times New Roman" panose="02020603050405020304" pitchFamily="18" charset="0"/>
                <a:cs typeface="Times New Roman" panose="02020603050405020304" pitchFamily="18" charset="0"/>
              </a:rPr>
              <a:t>Presented By</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Boreddy</a:t>
            </a:r>
            <a:r>
              <a:rPr lang="en-US" dirty="0">
                <a:solidFill>
                  <a:schemeClr val="tx1"/>
                </a:solidFill>
                <a:latin typeface="Times New Roman" panose="02020603050405020304" pitchFamily="18" charset="0"/>
                <a:cs typeface="Times New Roman" panose="02020603050405020304" pitchFamily="18" charset="0"/>
              </a:rPr>
              <a:t> Sai Nishida</a:t>
            </a:r>
            <a:endParaRPr lang="en-IN" dirty="0">
              <a:solidFill>
                <a:schemeClr val="tx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714265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F91E5-C334-203A-47EA-1F214141944E}"/>
              </a:ext>
            </a:extLst>
          </p:cNvPr>
          <p:cNvSpPr>
            <a:spLocks noGrp="1"/>
          </p:cNvSpPr>
          <p:nvPr>
            <p:ph type="ctrTitle"/>
          </p:nvPr>
        </p:nvSpPr>
        <p:spPr>
          <a:xfrm>
            <a:off x="1507067" y="130525"/>
            <a:ext cx="7766936" cy="1096900"/>
          </a:xfrm>
        </p:spPr>
        <p:txBody>
          <a:bodyPr/>
          <a:lstStyle/>
          <a:p>
            <a:r>
              <a:rPr lang="en-US" b="1" dirty="0">
                <a:solidFill>
                  <a:srgbClr val="92D050"/>
                </a:solidFill>
                <a:latin typeface="Times New Roman" panose="02020603050405020304" pitchFamily="18" charset="0"/>
                <a:cs typeface="Times New Roman" panose="02020603050405020304" pitchFamily="18" charset="0"/>
              </a:rPr>
              <a:t>Technologies, Tools Used:</a:t>
            </a:r>
            <a:endParaRPr lang="en-IN" dirty="0"/>
          </a:p>
        </p:txBody>
      </p:sp>
      <p:sp>
        <p:nvSpPr>
          <p:cNvPr id="3" name="Subtitle 2">
            <a:extLst>
              <a:ext uri="{FF2B5EF4-FFF2-40B4-BE49-F238E27FC236}">
                <a16:creationId xmlns:a16="http://schemas.microsoft.com/office/drawing/2014/main" id="{1DD796B3-F50F-C6D6-0292-DC45CF6FCC1F}"/>
              </a:ext>
            </a:extLst>
          </p:cNvPr>
          <p:cNvSpPr>
            <a:spLocks noGrp="1"/>
          </p:cNvSpPr>
          <p:nvPr>
            <p:ph type="subTitle" idx="1"/>
          </p:nvPr>
        </p:nvSpPr>
        <p:spPr>
          <a:xfrm>
            <a:off x="1507067" y="1227425"/>
            <a:ext cx="7766936" cy="5109207"/>
          </a:xfrm>
        </p:spPr>
        <p:txBody>
          <a:bodyPr/>
          <a:lstStyle/>
          <a:p>
            <a:pPr algn="just"/>
            <a:r>
              <a:rPr lang="en-IN" b="1" dirty="0">
                <a:solidFill>
                  <a:schemeClr val="tx1"/>
                </a:solidFill>
                <a:latin typeface="Times New Roman" panose="02020603050405020304" pitchFamily="18" charset="0"/>
                <a:cs typeface="Times New Roman" panose="02020603050405020304" pitchFamily="18" charset="0"/>
              </a:rPr>
              <a:t>Backend Technologies:</a:t>
            </a:r>
          </a:p>
          <a:p>
            <a:pPr marL="285750" indent="-285750" algn="just">
              <a:buFont typeface="Wingdings" panose="05000000000000000000" pitchFamily="2" charset="2"/>
              <a:buChar char="Ø"/>
            </a:pPr>
            <a:r>
              <a:rPr lang="en-IN" dirty="0">
                <a:solidFill>
                  <a:schemeClr val="tx1"/>
                </a:solidFill>
                <a:latin typeface="Times New Roman" panose="02020603050405020304" pitchFamily="18" charset="0"/>
                <a:cs typeface="Times New Roman" panose="02020603050405020304" pitchFamily="18" charset="0"/>
              </a:rPr>
              <a:t>Java with Spring Boot framework for building RESTful APIs.</a:t>
            </a:r>
          </a:p>
          <a:p>
            <a:pPr marL="285750" indent="-285750" algn="just">
              <a:buFont typeface="Wingdings" panose="05000000000000000000" pitchFamily="2" charset="2"/>
              <a:buChar char="Ø"/>
            </a:pPr>
            <a:r>
              <a:rPr lang="en-IN" dirty="0">
                <a:solidFill>
                  <a:schemeClr val="tx1"/>
                </a:solidFill>
                <a:latin typeface="Times New Roman" panose="02020603050405020304" pitchFamily="18" charset="0"/>
                <a:cs typeface="Times New Roman" panose="02020603050405020304" pitchFamily="18" charset="0"/>
              </a:rPr>
              <a:t>Spring Data JPA with Hibernate for database interaction.</a:t>
            </a:r>
          </a:p>
          <a:p>
            <a:pPr marL="285750" indent="-285750" algn="just">
              <a:buFont typeface="Wingdings" panose="05000000000000000000" pitchFamily="2" charset="2"/>
              <a:buChar char="Ø"/>
            </a:pPr>
            <a:r>
              <a:rPr lang="en-IN" dirty="0">
                <a:solidFill>
                  <a:schemeClr val="tx1"/>
                </a:solidFill>
                <a:latin typeface="Times New Roman" panose="02020603050405020304" pitchFamily="18" charset="0"/>
                <a:cs typeface="Times New Roman" panose="02020603050405020304" pitchFamily="18" charset="0"/>
              </a:rPr>
              <a:t>Spring Security with JWT for authentication and authorisation.</a:t>
            </a:r>
          </a:p>
          <a:p>
            <a:pPr marL="285750" indent="-285750" algn="just">
              <a:buFont typeface="Wingdings" panose="05000000000000000000" pitchFamily="2" charset="2"/>
              <a:buChar char="Ø"/>
            </a:pPr>
            <a:r>
              <a:rPr lang="en-IN" dirty="0">
                <a:solidFill>
                  <a:schemeClr val="tx1"/>
                </a:solidFill>
                <a:latin typeface="Times New Roman" panose="02020603050405020304" pitchFamily="18" charset="0"/>
                <a:cs typeface="Times New Roman" panose="02020603050405020304" pitchFamily="18" charset="0"/>
              </a:rPr>
              <a:t>MySQL as the relational database for storing books, users, and Records.</a:t>
            </a:r>
          </a:p>
          <a:p>
            <a:pPr marL="285750" indent="-285750" algn="just">
              <a:buFont typeface="Wingdings" panose="05000000000000000000" pitchFamily="2" charset="2"/>
              <a:buChar char="Ø"/>
            </a:pPr>
            <a:r>
              <a:rPr lang="en-IN" dirty="0">
                <a:solidFill>
                  <a:schemeClr val="tx1"/>
                </a:solidFill>
                <a:latin typeface="Times New Roman" panose="02020603050405020304" pitchFamily="18" charset="0"/>
                <a:cs typeface="Times New Roman" panose="02020603050405020304" pitchFamily="18" charset="0"/>
              </a:rPr>
              <a:t>Log4J for logging application events.</a:t>
            </a:r>
          </a:p>
          <a:p>
            <a:pPr algn="just"/>
            <a:r>
              <a:rPr lang="en-IN" b="1" dirty="0">
                <a:solidFill>
                  <a:schemeClr val="tx1"/>
                </a:solidFill>
                <a:latin typeface="Times New Roman" panose="02020603050405020304" pitchFamily="18" charset="0"/>
                <a:cs typeface="Times New Roman" panose="02020603050405020304" pitchFamily="18" charset="0"/>
              </a:rPr>
              <a:t>Frontend Technologies:</a:t>
            </a:r>
          </a:p>
          <a:p>
            <a:pPr marL="285750" indent="-285750" algn="just">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React with modern functional components and hooks</a:t>
            </a:r>
            <a:r>
              <a:rPr lang="en-IN" dirty="0">
                <a:solidFill>
                  <a:schemeClr val="tx1"/>
                </a:solidFill>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r>
              <a:rPr lang="en-IN" dirty="0">
                <a:solidFill>
                  <a:schemeClr val="tx1"/>
                </a:solidFill>
                <a:latin typeface="Times New Roman" panose="02020603050405020304" pitchFamily="18" charset="0"/>
                <a:cs typeface="Times New Roman" panose="02020603050405020304" pitchFamily="18" charset="0"/>
              </a:rPr>
              <a:t>Bootstrap for responsive UI design.</a:t>
            </a:r>
          </a:p>
          <a:p>
            <a:pPr marL="285750" indent="-285750" algn="just">
              <a:buFont typeface="Wingdings" panose="05000000000000000000" pitchFamily="2" charset="2"/>
              <a:buChar char="Ø"/>
            </a:pPr>
            <a:r>
              <a:rPr lang="en-IN" dirty="0">
                <a:solidFill>
                  <a:schemeClr val="tx1"/>
                </a:solidFill>
                <a:latin typeface="Times New Roman" panose="02020603050405020304" pitchFamily="18" charset="0"/>
                <a:cs typeface="Times New Roman" panose="02020603050405020304" pitchFamily="18" charset="0"/>
              </a:rPr>
              <a:t>React Router DOM for client-side routing.</a:t>
            </a:r>
          </a:p>
          <a:p>
            <a:pPr marL="285750" indent="-285750" algn="just">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React Hook Form with validation</a:t>
            </a:r>
            <a:r>
              <a:rPr lang="en-IN" dirty="0">
                <a:solidFill>
                  <a:schemeClr val="tx1"/>
                </a:solidFill>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r>
              <a:rPr lang="en-IN" dirty="0">
                <a:solidFill>
                  <a:schemeClr val="tx1"/>
                </a:solidFill>
                <a:latin typeface="Times New Roman" panose="02020603050405020304" pitchFamily="18" charset="0"/>
                <a:cs typeface="Times New Roman" panose="02020603050405020304" pitchFamily="18" charset="0"/>
              </a:rPr>
              <a:t>Axios for HTTP API calls</a:t>
            </a:r>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1681374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9B51B-1033-C1E4-3536-A4D62D6EB135}"/>
              </a:ext>
            </a:extLst>
          </p:cNvPr>
          <p:cNvSpPr>
            <a:spLocks noGrp="1"/>
          </p:cNvSpPr>
          <p:nvPr>
            <p:ph type="ctrTitle"/>
          </p:nvPr>
        </p:nvSpPr>
        <p:spPr>
          <a:xfrm>
            <a:off x="1410815" y="50314"/>
            <a:ext cx="7766936" cy="1096900"/>
          </a:xfrm>
        </p:spPr>
        <p:txBody>
          <a:bodyPr/>
          <a:lstStyle/>
          <a:p>
            <a:pPr algn="just"/>
            <a:r>
              <a:rPr lang="en-US" b="1" dirty="0">
                <a:latin typeface="Times New Roman" panose="02020603050405020304" pitchFamily="18" charset="0"/>
                <a:cs typeface="Times New Roman" panose="02020603050405020304" pitchFamily="18" charset="0"/>
              </a:rPr>
              <a:t>Introduction</a:t>
            </a:r>
            <a:endParaRPr lang="en-IN" dirty="0"/>
          </a:p>
        </p:txBody>
      </p:sp>
      <p:sp>
        <p:nvSpPr>
          <p:cNvPr id="3" name="Subtitle 2">
            <a:extLst>
              <a:ext uri="{FF2B5EF4-FFF2-40B4-BE49-F238E27FC236}">
                <a16:creationId xmlns:a16="http://schemas.microsoft.com/office/drawing/2014/main" id="{AAB801E6-E729-FC0B-0011-E19716D3ED3B}"/>
              </a:ext>
            </a:extLst>
          </p:cNvPr>
          <p:cNvSpPr>
            <a:spLocks noGrp="1"/>
          </p:cNvSpPr>
          <p:nvPr>
            <p:ph type="subTitle" idx="1"/>
          </p:nvPr>
        </p:nvSpPr>
        <p:spPr>
          <a:xfrm>
            <a:off x="1507067" y="1299411"/>
            <a:ext cx="7766936" cy="4828673"/>
          </a:xfrm>
        </p:spPr>
        <p:txBody>
          <a:bodyPr>
            <a:normAutofit/>
          </a:bodyPr>
          <a:lstStyle/>
          <a:p>
            <a:pPr marL="285750" indent="-285750" algn="just">
              <a:buFont typeface="Wingdings" panose="05000000000000000000" pitchFamily="2" charset="2"/>
              <a:buChar char="Ø"/>
            </a:pPr>
            <a:r>
              <a:rPr lang="en-US" sz="2400" dirty="0">
                <a:solidFill>
                  <a:schemeClr val="tx1"/>
                </a:solidFill>
              </a:rPr>
              <a:t> </a:t>
            </a:r>
            <a:r>
              <a:rPr lang="en-US" sz="2400" b="1" dirty="0" err="1">
                <a:solidFill>
                  <a:schemeClr val="tx1"/>
                </a:solidFill>
                <a:latin typeface="Times New Roman" panose="02020603050405020304" pitchFamily="18" charset="0"/>
                <a:cs typeface="Times New Roman" panose="02020603050405020304" pitchFamily="18" charset="0"/>
              </a:rPr>
              <a:t>FastX</a:t>
            </a:r>
            <a:r>
              <a:rPr lang="en-US" sz="2400" b="1" dirty="0">
                <a:solidFill>
                  <a:schemeClr val="tx1"/>
                </a:solidFill>
                <a:latin typeface="Times New Roman" panose="02020603050405020304" pitchFamily="18" charset="0"/>
                <a:cs typeface="Times New Roman" panose="02020603050405020304" pitchFamily="18" charset="0"/>
              </a:rPr>
              <a:t> Bus Booking System</a:t>
            </a:r>
            <a:r>
              <a:rPr lang="en-US" sz="2400" dirty="0">
                <a:solidFill>
                  <a:schemeClr val="tx1"/>
                </a:solidFill>
                <a:latin typeface="Times New Roman" panose="02020603050405020304" pitchFamily="18" charset="0"/>
                <a:cs typeface="Times New Roman" panose="02020603050405020304" pitchFamily="18" charset="0"/>
              </a:rPr>
              <a:t> is a web-based application that automates bus ticketing operations by connecting travelers with available buses and routes. It allows administrators and operators to manage buses, schedules, and bookings, while users can search routes, select seats, book tickets, and track their travel history.</a:t>
            </a:r>
          </a:p>
          <a:p>
            <a:pPr marL="285750" indent="-285750" algn="just">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The system replaces manual ticketing processes with a scalable digital solution, improving efficiency, accuracy, and accessibility for both passengers and transport operators.</a:t>
            </a:r>
          </a:p>
          <a:p>
            <a:endParaRPr lang="en-IN" dirty="0"/>
          </a:p>
        </p:txBody>
      </p:sp>
    </p:spTree>
    <p:extLst>
      <p:ext uri="{BB962C8B-B14F-4D97-AF65-F5344CB8AC3E}">
        <p14:creationId xmlns:p14="http://schemas.microsoft.com/office/powerpoint/2010/main" val="765387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CBA4B-D991-EC3D-317F-892EB6FC7AD5}"/>
              </a:ext>
            </a:extLst>
          </p:cNvPr>
          <p:cNvSpPr>
            <a:spLocks noGrp="1"/>
          </p:cNvSpPr>
          <p:nvPr>
            <p:ph type="ctrTitle"/>
          </p:nvPr>
        </p:nvSpPr>
        <p:spPr>
          <a:xfrm>
            <a:off x="1298521" y="82401"/>
            <a:ext cx="7766936" cy="1096900"/>
          </a:xfrm>
        </p:spPr>
        <p:txBody>
          <a:bodyPr/>
          <a:lstStyle/>
          <a:p>
            <a:pPr algn="just"/>
            <a:r>
              <a:rPr lang="en-US" b="1" dirty="0">
                <a:latin typeface="Times New Roman" panose="02020603050405020304" pitchFamily="18" charset="0"/>
                <a:cs typeface="Times New Roman" panose="02020603050405020304" pitchFamily="18" charset="0"/>
              </a:rPr>
              <a:t>ER Diagram</a:t>
            </a:r>
            <a:endParaRPr lang="en-IN" dirty="0"/>
          </a:p>
        </p:txBody>
      </p:sp>
      <p:pic>
        <p:nvPicPr>
          <p:cNvPr id="8" name="Picture 7">
            <a:extLst>
              <a:ext uri="{FF2B5EF4-FFF2-40B4-BE49-F238E27FC236}">
                <a16:creationId xmlns:a16="http://schemas.microsoft.com/office/drawing/2014/main" id="{DFB27B7F-7CA5-D810-444C-10D9539112F1}"/>
              </a:ext>
            </a:extLst>
          </p:cNvPr>
          <p:cNvPicPr>
            <a:picLocks noChangeAspect="1"/>
          </p:cNvPicPr>
          <p:nvPr/>
        </p:nvPicPr>
        <p:blipFill>
          <a:blip r:embed="rId2"/>
          <a:stretch>
            <a:fillRect/>
          </a:stretch>
        </p:blipFill>
        <p:spPr>
          <a:xfrm>
            <a:off x="2169543" y="1179301"/>
            <a:ext cx="7766937" cy="5404380"/>
          </a:xfrm>
          <a:prstGeom prst="rect">
            <a:avLst/>
          </a:prstGeom>
        </p:spPr>
      </p:pic>
    </p:spTree>
    <p:extLst>
      <p:ext uri="{BB962C8B-B14F-4D97-AF65-F5344CB8AC3E}">
        <p14:creationId xmlns:p14="http://schemas.microsoft.com/office/powerpoint/2010/main" val="704723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9C942-7B13-1B8A-D7F0-AF987088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6D0A91-0CAF-E181-0458-404121E5F3F2}"/>
              </a:ext>
            </a:extLst>
          </p:cNvPr>
          <p:cNvSpPr>
            <a:spLocks noGrp="1"/>
          </p:cNvSpPr>
          <p:nvPr>
            <p:ph type="ctrTitle"/>
          </p:nvPr>
        </p:nvSpPr>
        <p:spPr>
          <a:xfrm>
            <a:off x="1298521" y="66355"/>
            <a:ext cx="7766936" cy="1096899"/>
          </a:xfrm>
        </p:spPr>
        <p:txBody>
          <a:bodyPr/>
          <a:lstStyle/>
          <a:p>
            <a:pPr algn="just"/>
            <a:r>
              <a:rPr lang="en-US" b="1" dirty="0">
                <a:latin typeface="Times New Roman" panose="02020603050405020304" pitchFamily="18" charset="0"/>
                <a:cs typeface="Times New Roman" panose="02020603050405020304" pitchFamily="18" charset="0"/>
              </a:rPr>
              <a:t>Use Case Diagram</a:t>
            </a:r>
            <a:endParaRPr lang="en-IN" dirty="0"/>
          </a:p>
        </p:txBody>
      </p:sp>
      <p:pic>
        <p:nvPicPr>
          <p:cNvPr id="5" name="Picture 4">
            <a:extLst>
              <a:ext uri="{FF2B5EF4-FFF2-40B4-BE49-F238E27FC236}">
                <a16:creationId xmlns:a16="http://schemas.microsoft.com/office/drawing/2014/main" id="{B485EB0F-AE5A-1BCE-C167-589537323445}"/>
              </a:ext>
            </a:extLst>
          </p:cNvPr>
          <p:cNvPicPr>
            <a:picLocks noChangeAspect="1"/>
          </p:cNvPicPr>
          <p:nvPr/>
        </p:nvPicPr>
        <p:blipFill>
          <a:blip r:embed="rId2"/>
          <a:stretch>
            <a:fillRect/>
          </a:stretch>
        </p:blipFill>
        <p:spPr>
          <a:xfrm>
            <a:off x="2775284" y="1242707"/>
            <a:ext cx="6015790" cy="5109967"/>
          </a:xfrm>
          <a:prstGeom prst="rect">
            <a:avLst/>
          </a:prstGeom>
        </p:spPr>
      </p:pic>
    </p:spTree>
    <p:extLst>
      <p:ext uri="{BB962C8B-B14F-4D97-AF65-F5344CB8AC3E}">
        <p14:creationId xmlns:p14="http://schemas.microsoft.com/office/powerpoint/2010/main" val="1946314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05979-DD08-6FCB-F94A-1294CBF1BC73}"/>
              </a:ext>
            </a:extLst>
          </p:cNvPr>
          <p:cNvSpPr>
            <a:spLocks noGrp="1"/>
          </p:cNvSpPr>
          <p:nvPr>
            <p:ph type="title"/>
          </p:nvPr>
        </p:nvSpPr>
        <p:spPr/>
        <p:txBody>
          <a:bodyPr/>
          <a:lstStyle/>
          <a:p>
            <a:r>
              <a:rPr lang="en-IN" dirty="0"/>
              <a:t>Customer </a:t>
            </a:r>
          </a:p>
        </p:txBody>
      </p:sp>
      <p:sp>
        <p:nvSpPr>
          <p:cNvPr id="3" name="Content Placeholder 2">
            <a:extLst>
              <a:ext uri="{FF2B5EF4-FFF2-40B4-BE49-F238E27FC236}">
                <a16:creationId xmlns:a16="http://schemas.microsoft.com/office/drawing/2014/main" id="{3B77576A-A9C3-9375-7A9C-3EE00FB8EF11}"/>
              </a:ext>
            </a:extLst>
          </p:cNvPr>
          <p:cNvSpPr>
            <a:spLocks noGrp="1"/>
          </p:cNvSpPr>
          <p:nvPr>
            <p:ph idx="1"/>
          </p:nvPr>
        </p:nvSpPr>
        <p:spPr>
          <a:xfrm>
            <a:off x="677334" y="1406611"/>
            <a:ext cx="8596668" cy="4841789"/>
          </a:xfrm>
        </p:spPr>
        <p:txBody>
          <a:bodyPr>
            <a:normAutofit/>
          </a:bodyPr>
          <a:lstStyle/>
          <a:p>
            <a:r>
              <a:rPr lang="en-US" dirty="0">
                <a:solidFill>
                  <a:schemeClr val="tx1"/>
                </a:solidFill>
              </a:rPr>
              <a:t>The Customer is the end-user performing the actual ticket reservations. </a:t>
            </a:r>
          </a:p>
          <a:p>
            <a:r>
              <a:rPr lang="en-US" dirty="0">
                <a:solidFill>
                  <a:schemeClr val="tx1"/>
                </a:solidFill>
              </a:rPr>
              <a:t> </a:t>
            </a:r>
            <a:r>
              <a:rPr lang="en-US" b="1" dirty="0">
                <a:solidFill>
                  <a:schemeClr val="tx1"/>
                </a:solidFill>
              </a:rPr>
              <a:t>Dynamic Bus Search:</a:t>
            </a:r>
            <a:r>
              <a:rPr lang="en-US" dirty="0">
                <a:solidFill>
                  <a:schemeClr val="tx1"/>
                </a:solidFill>
              </a:rPr>
              <a:t> Search for available buses between two specific cities on a chosen travel date. </a:t>
            </a:r>
          </a:p>
          <a:p>
            <a:r>
              <a:rPr lang="en-US" b="1" dirty="0">
                <a:solidFill>
                  <a:schemeClr val="tx1"/>
                </a:solidFill>
              </a:rPr>
              <a:t>Interactive Seat Selection:</a:t>
            </a:r>
            <a:r>
              <a:rPr lang="en-US" dirty="0">
                <a:solidFill>
                  <a:schemeClr val="tx1"/>
                </a:solidFill>
              </a:rPr>
              <a:t> View visual, real-time bus layouts, select specific seat numbers, and see live pricing based on seat type (e.g., Sleeper vs. Seater). </a:t>
            </a:r>
          </a:p>
          <a:p>
            <a:r>
              <a:rPr lang="en-US" b="1" dirty="0">
                <a:solidFill>
                  <a:schemeClr val="tx1"/>
                </a:solidFill>
              </a:rPr>
              <a:t>Multi-Passenger Booking:</a:t>
            </a:r>
            <a:r>
              <a:rPr lang="en-US" dirty="0">
                <a:solidFill>
                  <a:schemeClr val="tx1"/>
                </a:solidFill>
              </a:rPr>
              <a:t> Book tickets for multiple passengers at once, entering specific details per seat (like name, age, and gender). </a:t>
            </a:r>
          </a:p>
          <a:p>
            <a:r>
              <a:rPr lang="en-US" b="1" dirty="0">
                <a:solidFill>
                  <a:schemeClr val="tx1"/>
                </a:solidFill>
              </a:rPr>
              <a:t> History:</a:t>
            </a:r>
            <a:r>
              <a:rPr lang="en-US" dirty="0">
                <a:solidFill>
                  <a:schemeClr val="tx1"/>
                </a:solidFill>
              </a:rPr>
              <a:t> A personalized dashboard to view all upcoming and past trips securely. </a:t>
            </a:r>
          </a:p>
          <a:p>
            <a:r>
              <a:rPr lang="en-US" b="1" dirty="0">
                <a:solidFill>
                  <a:schemeClr val="tx1"/>
                </a:solidFill>
              </a:rPr>
              <a:t>Ticket Management:</a:t>
            </a:r>
            <a:r>
              <a:rPr lang="en-US" dirty="0">
                <a:solidFill>
                  <a:schemeClr val="tx1"/>
                </a:solidFill>
              </a:rPr>
              <a:t> Check current Ticket Status via PNR, and securely cancel active tickets to receive automated refund updates</a:t>
            </a:r>
            <a:r>
              <a:rPr lang="en-US" dirty="0"/>
              <a:t>.</a:t>
            </a:r>
            <a:endParaRPr lang="en-IN" dirty="0"/>
          </a:p>
        </p:txBody>
      </p:sp>
    </p:spTree>
    <p:extLst>
      <p:ext uri="{BB962C8B-B14F-4D97-AF65-F5344CB8AC3E}">
        <p14:creationId xmlns:p14="http://schemas.microsoft.com/office/powerpoint/2010/main" val="4200866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F1615-C161-F9BF-9E58-CC6E0D9D7D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F1807B-C89C-976A-9299-882383EF7219}"/>
              </a:ext>
            </a:extLst>
          </p:cNvPr>
          <p:cNvSpPr>
            <a:spLocks noGrp="1"/>
          </p:cNvSpPr>
          <p:nvPr>
            <p:ph type="ctrTitle"/>
          </p:nvPr>
        </p:nvSpPr>
        <p:spPr>
          <a:xfrm>
            <a:off x="1507067" y="162611"/>
            <a:ext cx="7766936" cy="1096899"/>
          </a:xfrm>
        </p:spPr>
        <p:txBody>
          <a:bodyPr/>
          <a:lstStyle/>
          <a:p>
            <a:pPr algn="just"/>
            <a:r>
              <a:rPr lang="en-IN" dirty="0"/>
              <a:t>Login &amp; Register Pages</a:t>
            </a:r>
          </a:p>
        </p:txBody>
      </p:sp>
      <p:pic>
        <p:nvPicPr>
          <p:cNvPr id="5" name="Picture 4">
            <a:extLst>
              <a:ext uri="{FF2B5EF4-FFF2-40B4-BE49-F238E27FC236}">
                <a16:creationId xmlns:a16="http://schemas.microsoft.com/office/drawing/2014/main" id="{ABCF16D3-3C0B-53B8-DAD1-C89104F2829D}"/>
              </a:ext>
            </a:extLst>
          </p:cNvPr>
          <p:cNvPicPr>
            <a:picLocks noChangeAspect="1"/>
          </p:cNvPicPr>
          <p:nvPr/>
        </p:nvPicPr>
        <p:blipFill>
          <a:blip r:embed="rId2"/>
          <a:stretch>
            <a:fillRect/>
          </a:stretch>
        </p:blipFill>
        <p:spPr>
          <a:xfrm>
            <a:off x="112295" y="1499782"/>
            <a:ext cx="5598694" cy="5061438"/>
          </a:xfrm>
          <a:prstGeom prst="rect">
            <a:avLst/>
          </a:prstGeom>
        </p:spPr>
      </p:pic>
      <p:pic>
        <p:nvPicPr>
          <p:cNvPr id="6" name="Picture 5">
            <a:extLst>
              <a:ext uri="{FF2B5EF4-FFF2-40B4-BE49-F238E27FC236}">
                <a16:creationId xmlns:a16="http://schemas.microsoft.com/office/drawing/2014/main" id="{11FCC72A-FAD2-B583-3B58-BCB973476DC4}"/>
              </a:ext>
            </a:extLst>
          </p:cNvPr>
          <p:cNvPicPr>
            <a:picLocks noChangeAspect="1"/>
          </p:cNvPicPr>
          <p:nvPr/>
        </p:nvPicPr>
        <p:blipFill>
          <a:blip r:embed="rId3"/>
          <a:stretch>
            <a:fillRect/>
          </a:stretch>
        </p:blipFill>
        <p:spPr>
          <a:xfrm>
            <a:off x="5823284" y="1468049"/>
            <a:ext cx="6256421" cy="5093171"/>
          </a:xfrm>
          <a:prstGeom prst="rect">
            <a:avLst/>
          </a:prstGeom>
        </p:spPr>
      </p:pic>
    </p:spTree>
    <p:extLst>
      <p:ext uri="{BB962C8B-B14F-4D97-AF65-F5344CB8AC3E}">
        <p14:creationId xmlns:p14="http://schemas.microsoft.com/office/powerpoint/2010/main" val="832566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1637C-6B37-630A-42C9-89E16614AB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C18D62-E020-9AF2-C65A-04F77D72E37B}"/>
              </a:ext>
            </a:extLst>
          </p:cNvPr>
          <p:cNvSpPr>
            <a:spLocks noGrp="1"/>
          </p:cNvSpPr>
          <p:nvPr>
            <p:ph type="ctrTitle"/>
          </p:nvPr>
        </p:nvSpPr>
        <p:spPr>
          <a:xfrm>
            <a:off x="1266437" y="18230"/>
            <a:ext cx="7766936" cy="1096899"/>
          </a:xfrm>
        </p:spPr>
        <p:txBody>
          <a:bodyPr/>
          <a:lstStyle/>
          <a:p>
            <a:pPr algn="just"/>
            <a:r>
              <a:rPr lang="en-IN" dirty="0"/>
              <a:t>Customer Home Page</a:t>
            </a:r>
          </a:p>
        </p:txBody>
      </p:sp>
      <p:pic>
        <p:nvPicPr>
          <p:cNvPr id="5" name="Picture 4">
            <a:extLst>
              <a:ext uri="{FF2B5EF4-FFF2-40B4-BE49-F238E27FC236}">
                <a16:creationId xmlns:a16="http://schemas.microsoft.com/office/drawing/2014/main" id="{EF8B8DCF-90E2-F1CE-2199-29E28814355A}"/>
              </a:ext>
            </a:extLst>
          </p:cNvPr>
          <p:cNvPicPr>
            <a:picLocks noChangeAspect="1"/>
          </p:cNvPicPr>
          <p:nvPr/>
        </p:nvPicPr>
        <p:blipFill>
          <a:blip r:embed="rId2"/>
          <a:stretch>
            <a:fillRect/>
          </a:stretch>
        </p:blipFill>
        <p:spPr>
          <a:xfrm>
            <a:off x="850232" y="1347535"/>
            <a:ext cx="10539663" cy="5093333"/>
          </a:xfrm>
          <a:prstGeom prst="rect">
            <a:avLst/>
          </a:prstGeom>
        </p:spPr>
      </p:pic>
    </p:spTree>
    <p:extLst>
      <p:ext uri="{BB962C8B-B14F-4D97-AF65-F5344CB8AC3E}">
        <p14:creationId xmlns:p14="http://schemas.microsoft.com/office/powerpoint/2010/main" val="2196786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37197-B381-5EBE-595C-9CBD32411A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927666-EE89-7042-0163-C43FD256B7EF}"/>
              </a:ext>
            </a:extLst>
          </p:cNvPr>
          <p:cNvSpPr>
            <a:spLocks noGrp="1"/>
          </p:cNvSpPr>
          <p:nvPr>
            <p:ph type="ctrTitle"/>
          </p:nvPr>
        </p:nvSpPr>
        <p:spPr>
          <a:xfrm>
            <a:off x="833301" y="368967"/>
            <a:ext cx="10219710" cy="858457"/>
          </a:xfrm>
        </p:spPr>
        <p:txBody>
          <a:bodyPr/>
          <a:lstStyle/>
          <a:p>
            <a:pPr algn="just"/>
            <a:r>
              <a:rPr lang="en-IN" dirty="0">
                <a:solidFill>
                  <a:schemeClr val="accent6"/>
                </a:solidFill>
              </a:rPr>
              <a:t>Seat Selection &amp; Payment Pages</a:t>
            </a:r>
          </a:p>
        </p:txBody>
      </p:sp>
      <p:pic>
        <p:nvPicPr>
          <p:cNvPr id="5" name="Picture 4">
            <a:extLst>
              <a:ext uri="{FF2B5EF4-FFF2-40B4-BE49-F238E27FC236}">
                <a16:creationId xmlns:a16="http://schemas.microsoft.com/office/drawing/2014/main" id="{76EB7C9D-83AD-8F44-F6DB-98F1ABA50102}"/>
              </a:ext>
            </a:extLst>
          </p:cNvPr>
          <p:cNvPicPr>
            <a:picLocks noChangeAspect="1"/>
          </p:cNvPicPr>
          <p:nvPr/>
        </p:nvPicPr>
        <p:blipFill>
          <a:blip r:embed="rId2"/>
          <a:stretch>
            <a:fillRect/>
          </a:stretch>
        </p:blipFill>
        <p:spPr>
          <a:xfrm>
            <a:off x="994610" y="1227423"/>
            <a:ext cx="10058401" cy="5263183"/>
          </a:xfrm>
          <a:prstGeom prst="rect">
            <a:avLst/>
          </a:prstGeom>
        </p:spPr>
      </p:pic>
    </p:spTree>
    <p:extLst>
      <p:ext uri="{BB962C8B-B14F-4D97-AF65-F5344CB8AC3E}">
        <p14:creationId xmlns:p14="http://schemas.microsoft.com/office/powerpoint/2010/main" val="4156054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FAD93-B233-080A-1689-DF968EF840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B1676-073A-5D0E-4433-DD46A88775E7}"/>
              </a:ext>
            </a:extLst>
          </p:cNvPr>
          <p:cNvSpPr>
            <a:spLocks noGrp="1"/>
          </p:cNvSpPr>
          <p:nvPr>
            <p:ph type="ctrTitle"/>
          </p:nvPr>
        </p:nvSpPr>
        <p:spPr>
          <a:xfrm>
            <a:off x="656837" y="160418"/>
            <a:ext cx="8567374" cy="1500141"/>
          </a:xfrm>
        </p:spPr>
        <p:txBody>
          <a:bodyPr/>
          <a:lstStyle/>
          <a:p>
            <a:pPr algn="just"/>
            <a:r>
              <a:rPr lang="en-IN" dirty="0">
                <a:latin typeface="Times New Roman" panose="02020603050405020304" pitchFamily="18" charset="0"/>
                <a:cs typeface="Times New Roman" panose="02020603050405020304" pitchFamily="18" charset="0"/>
              </a:rPr>
              <a:t>Customer My Trips &amp;Cancel Ticket Pages</a:t>
            </a:r>
          </a:p>
        </p:txBody>
      </p:sp>
      <p:pic>
        <p:nvPicPr>
          <p:cNvPr id="5" name="Picture 4">
            <a:extLst>
              <a:ext uri="{FF2B5EF4-FFF2-40B4-BE49-F238E27FC236}">
                <a16:creationId xmlns:a16="http://schemas.microsoft.com/office/drawing/2014/main" id="{1559656F-9DCD-1BAF-DA45-E2E0552299FF}"/>
              </a:ext>
            </a:extLst>
          </p:cNvPr>
          <p:cNvPicPr>
            <a:picLocks noChangeAspect="1"/>
          </p:cNvPicPr>
          <p:nvPr/>
        </p:nvPicPr>
        <p:blipFill>
          <a:blip r:embed="rId2"/>
          <a:stretch>
            <a:fillRect/>
          </a:stretch>
        </p:blipFill>
        <p:spPr>
          <a:xfrm>
            <a:off x="47237" y="1973179"/>
            <a:ext cx="5486401" cy="4507831"/>
          </a:xfrm>
          <a:prstGeom prst="rect">
            <a:avLst/>
          </a:prstGeom>
        </p:spPr>
      </p:pic>
      <p:pic>
        <p:nvPicPr>
          <p:cNvPr id="6" name="Picture 5">
            <a:extLst>
              <a:ext uri="{FF2B5EF4-FFF2-40B4-BE49-F238E27FC236}">
                <a16:creationId xmlns:a16="http://schemas.microsoft.com/office/drawing/2014/main" id="{08A19673-12FA-1A88-D645-8CC9EF1CC1E4}"/>
              </a:ext>
            </a:extLst>
          </p:cNvPr>
          <p:cNvPicPr>
            <a:picLocks noChangeAspect="1"/>
          </p:cNvPicPr>
          <p:nvPr/>
        </p:nvPicPr>
        <p:blipFill>
          <a:blip r:embed="rId3"/>
          <a:stretch>
            <a:fillRect/>
          </a:stretch>
        </p:blipFill>
        <p:spPr>
          <a:xfrm>
            <a:off x="5759116" y="1973178"/>
            <a:ext cx="6208295" cy="4507832"/>
          </a:xfrm>
          <a:prstGeom prst="rect">
            <a:avLst/>
          </a:prstGeom>
        </p:spPr>
      </p:pic>
    </p:spTree>
    <p:extLst>
      <p:ext uri="{BB962C8B-B14F-4D97-AF65-F5344CB8AC3E}">
        <p14:creationId xmlns:p14="http://schemas.microsoft.com/office/powerpoint/2010/main" val="1965453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A63CD-3A2F-5E58-1AE9-00ED12DD6B73}"/>
              </a:ext>
            </a:extLst>
          </p:cNvPr>
          <p:cNvSpPr>
            <a:spLocks noGrp="1"/>
          </p:cNvSpPr>
          <p:nvPr>
            <p:ph type="title"/>
          </p:nvPr>
        </p:nvSpPr>
        <p:spPr>
          <a:xfrm>
            <a:off x="677334" y="417096"/>
            <a:ext cx="8596668" cy="641684"/>
          </a:xfrm>
        </p:spPr>
        <p:txBody>
          <a:bodyPr/>
          <a:lstStyle/>
          <a:p>
            <a:r>
              <a:rPr lang="en-IN" dirty="0"/>
              <a:t>Admin Role</a:t>
            </a:r>
          </a:p>
        </p:txBody>
      </p:sp>
      <p:sp>
        <p:nvSpPr>
          <p:cNvPr id="3" name="Content Placeholder 2">
            <a:extLst>
              <a:ext uri="{FF2B5EF4-FFF2-40B4-BE49-F238E27FC236}">
                <a16:creationId xmlns:a16="http://schemas.microsoft.com/office/drawing/2014/main" id="{BB7363F7-6E25-5E6D-91BE-9C9D47FB4D29}"/>
              </a:ext>
            </a:extLst>
          </p:cNvPr>
          <p:cNvSpPr>
            <a:spLocks noGrp="1"/>
          </p:cNvSpPr>
          <p:nvPr>
            <p:ph idx="1"/>
          </p:nvPr>
        </p:nvSpPr>
        <p:spPr>
          <a:xfrm>
            <a:off x="677334" y="1363579"/>
            <a:ext cx="8596668" cy="4677784"/>
          </a:xfrm>
        </p:spPr>
        <p:txBody>
          <a:bodyPr>
            <a:normAutofit/>
          </a:bodyPr>
          <a:lstStyle/>
          <a:p>
            <a:r>
              <a:rPr lang="en-US" sz="2200" dirty="0">
                <a:solidFill>
                  <a:schemeClr val="tx1"/>
                </a:solidFill>
                <a:latin typeface="Times New Roman" panose="02020603050405020304" pitchFamily="18" charset="0"/>
                <a:cs typeface="Times New Roman" panose="02020603050405020304" pitchFamily="18" charset="0"/>
              </a:rPr>
              <a:t>The Admin has global oversight over the entire business platform. </a:t>
            </a:r>
          </a:p>
          <a:p>
            <a:r>
              <a:rPr lang="en-US" sz="2200" b="1" dirty="0">
                <a:solidFill>
                  <a:schemeClr val="tx1"/>
                </a:solidFill>
                <a:latin typeface="Times New Roman" panose="02020603050405020304" pitchFamily="18" charset="0"/>
                <a:cs typeface="Times New Roman" panose="02020603050405020304" pitchFamily="18" charset="0"/>
              </a:rPr>
              <a:t>Dashboard &amp; Analytics:</a:t>
            </a:r>
            <a:r>
              <a:rPr lang="en-US" sz="2200" dirty="0">
                <a:solidFill>
                  <a:schemeClr val="tx1"/>
                </a:solidFill>
                <a:latin typeface="Times New Roman" panose="02020603050405020304" pitchFamily="18" charset="0"/>
                <a:cs typeface="Times New Roman" panose="02020603050405020304" pitchFamily="18" charset="0"/>
              </a:rPr>
              <a:t> View high-level metrics like total users, total system-wide bookings, total revenue, and total active buses. </a:t>
            </a:r>
          </a:p>
          <a:p>
            <a:r>
              <a:rPr lang="en-US" sz="2200" b="1" dirty="0">
                <a:solidFill>
                  <a:schemeClr val="tx1"/>
                </a:solidFill>
                <a:latin typeface="Times New Roman" panose="02020603050405020304" pitchFamily="18" charset="0"/>
                <a:cs typeface="Times New Roman" panose="02020603050405020304" pitchFamily="18" charset="0"/>
              </a:rPr>
              <a:t>Global Fleet Management:</a:t>
            </a:r>
            <a:r>
              <a:rPr lang="en-US" sz="2200" dirty="0">
                <a:solidFill>
                  <a:schemeClr val="tx1"/>
                </a:solidFill>
                <a:latin typeface="Times New Roman" panose="02020603050405020304" pitchFamily="18" charset="0"/>
                <a:cs typeface="Times New Roman" panose="02020603050405020304" pitchFamily="18" charset="0"/>
              </a:rPr>
              <a:t> View every registered bus in the system, regardless of which operator owns it. </a:t>
            </a:r>
          </a:p>
          <a:p>
            <a:r>
              <a:rPr lang="en-US" sz="2200" b="1" dirty="0">
                <a:solidFill>
                  <a:schemeClr val="tx1"/>
                </a:solidFill>
                <a:latin typeface="Times New Roman" panose="02020603050405020304" pitchFamily="18" charset="0"/>
                <a:cs typeface="Times New Roman" panose="02020603050405020304" pitchFamily="18" charset="0"/>
              </a:rPr>
              <a:t>Route &amp; Schedule Management:</a:t>
            </a:r>
            <a:r>
              <a:rPr lang="en-US" sz="2200" dirty="0">
                <a:solidFill>
                  <a:schemeClr val="tx1"/>
                </a:solidFill>
                <a:latin typeface="Times New Roman" panose="02020603050405020304" pitchFamily="18" charset="0"/>
                <a:cs typeface="Times New Roman" panose="02020603050405020304" pitchFamily="18" charset="0"/>
              </a:rPr>
              <a:t> Create new service cities, define global routes (Source to Destination), and set up recurring route schedules (e.g., repeating trips every 3-5 days). </a:t>
            </a:r>
          </a:p>
          <a:p>
            <a:r>
              <a:rPr lang="en-US" sz="2200" b="1" dirty="0">
                <a:solidFill>
                  <a:schemeClr val="tx1"/>
                </a:solidFill>
                <a:latin typeface="Times New Roman" panose="02020603050405020304" pitchFamily="18" charset="0"/>
                <a:cs typeface="Times New Roman" panose="02020603050405020304" pitchFamily="18" charset="0"/>
              </a:rPr>
              <a:t>User Management:</a:t>
            </a:r>
            <a:r>
              <a:rPr lang="en-US" sz="2200" dirty="0">
                <a:solidFill>
                  <a:schemeClr val="tx1"/>
                </a:solidFill>
                <a:latin typeface="Times New Roman" panose="02020603050405020304" pitchFamily="18" charset="0"/>
                <a:cs typeface="Times New Roman" panose="02020603050405020304" pitchFamily="18" charset="0"/>
              </a:rPr>
              <a:t> Manage all user and operator accounts to ensure security and valid access control.</a:t>
            </a:r>
            <a:endParaRPr lang="en-IN" sz="2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7497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443F6-BE11-E1AC-D247-116E31035754}"/>
              </a:ext>
            </a:extLst>
          </p:cNvPr>
          <p:cNvSpPr>
            <a:spLocks noGrp="1"/>
          </p:cNvSpPr>
          <p:nvPr>
            <p:ph type="title"/>
          </p:nvPr>
        </p:nvSpPr>
        <p:spPr>
          <a:xfrm>
            <a:off x="677334" y="609600"/>
            <a:ext cx="8596668" cy="866274"/>
          </a:xfrm>
        </p:spPr>
        <p:txBody>
          <a:bodyPr/>
          <a:lstStyle/>
          <a:p>
            <a:r>
              <a:rPr lang="en-IN" dirty="0"/>
              <a:t>Admin Dashboard</a:t>
            </a:r>
          </a:p>
        </p:txBody>
      </p:sp>
      <p:pic>
        <p:nvPicPr>
          <p:cNvPr id="5" name="Picture 4">
            <a:extLst>
              <a:ext uri="{FF2B5EF4-FFF2-40B4-BE49-F238E27FC236}">
                <a16:creationId xmlns:a16="http://schemas.microsoft.com/office/drawing/2014/main" id="{99FF48B2-CC53-4A5B-6E8B-FC55779C9F72}"/>
              </a:ext>
            </a:extLst>
          </p:cNvPr>
          <p:cNvPicPr>
            <a:picLocks noChangeAspect="1"/>
          </p:cNvPicPr>
          <p:nvPr/>
        </p:nvPicPr>
        <p:blipFill>
          <a:blip r:embed="rId2"/>
          <a:stretch>
            <a:fillRect/>
          </a:stretch>
        </p:blipFill>
        <p:spPr>
          <a:xfrm>
            <a:off x="677334" y="1347536"/>
            <a:ext cx="10837332" cy="5068863"/>
          </a:xfrm>
          <a:prstGeom prst="rect">
            <a:avLst/>
          </a:prstGeom>
        </p:spPr>
      </p:pic>
    </p:spTree>
    <p:extLst>
      <p:ext uri="{BB962C8B-B14F-4D97-AF65-F5344CB8AC3E}">
        <p14:creationId xmlns:p14="http://schemas.microsoft.com/office/powerpoint/2010/main" val="21465062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0303E-EF42-CB1D-D2DE-E2E168921BBB}"/>
              </a:ext>
            </a:extLst>
          </p:cNvPr>
          <p:cNvSpPr>
            <a:spLocks noGrp="1"/>
          </p:cNvSpPr>
          <p:nvPr>
            <p:ph type="title"/>
          </p:nvPr>
        </p:nvSpPr>
        <p:spPr>
          <a:xfrm>
            <a:off x="677334" y="609600"/>
            <a:ext cx="8596668" cy="737937"/>
          </a:xfrm>
        </p:spPr>
        <p:txBody>
          <a:bodyPr/>
          <a:lstStyle/>
          <a:p>
            <a:r>
              <a:rPr lang="en-IN" dirty="0"/>
              <a:t>Bus Operator Role</a:t>
            </a:r>
          </a:p>
        </p:txBody>
      </p:sp>
      <p:sp>
        <p:nvSpPr>
          <p:cNvPr id="3" name="Content Placeholder 2">
            <a:extLst>
              <a:ext uri="{FF2B5EF4-FFF2-40B4-BE49-F238E27FC236}">
                <a16:creationId xmlns:a16="http://schemas.microsoft.com/office/drawing/2014/main" id="{316D7E78-9D32-5AD8-4D03-8E5C3FE5734A}"/>
              </a:ext>
            </a:extLst>
          </p:cNvPr>
          <p:cNvSpPr>
            <a:spLocks noGrp="1"/>
          </p:cNvSpPr>
          <p:nvPr>
            <p:ph idx="1"/>
          </p:nvPr>
        </p:nvSpPr>
        <p:spPr>
          <a:xfrm>
            <a:off x="677334" y="1700461"/>
            <a:ext cx="8596668" cy="4693825"/>
          </a:xfrm>
        </p:spPr>
        <p:txBody>
          <a:bodyPr>
            <a:normAutofit/>
          </a:bodyPr>
          <a:lstStyle/>
          <a:p>
            <a:r>
              <a:rPr lang="en-US" sz="2200" dirty="0">
                <a:solidFill>
                  <a:schemeClr val="tx1"/>
                </a:solidFill>
                <a:latin typeface="Times New Roman" panose="02020603050405020304" pitchFamily="18" charset="0"/>
                <a:cs typeface="Times New Roman" panose="02020603050405020304" pitchFamily="18" charset="0"/>
              </a:rPr>
              <a:t>The Operator manages their own specific fleet of buses and is heavily restricted from seeing competitors' data. </a:t>
            </a:r>
          </a:p>
          <a:p>
            <a:r>
              <a:rPr lang="en-US" sz="2200" b="1" dirty="0">
                <a:solidFill>
                  <a:schemeClr val="tx1"/>
                </a:solidFill>
                <a:latin typeface="Times New Roman" panose="02020603050405020304" pitchFamily="18" charset="0"/>
                <a:cs typeface="Times New Roman" panose="02020603050405020304" pitchFamily="18" charset="0"/>
              </a:rPr>
              <a:t>Bus Registration:</a:t>
            </a:r>
            <a:r>
              <a:rPr lang="en-US" sz="2200" dirty="0">
                <a:solidFill>
                  <a:schemeClr val="tx1"/>
                </a:solidFill>
                <a:latin typeface="Times New Roman" panose="02020603050405020304" pitchFamily="18" charset="0"/>
                <a:cs typeface="Times New Roman" panose="02020603050405020304" pitchFamily="18" charset="0"/>
              </a:rPr>
              <a:t> Add and manage their unique buses, specifying details like Bus Number, Layout Type (Sleeper vs. Seater), and capacities. </a:t>
            </a:r>
          </a:p>
          <a:p>
            <a:r>
              <a:rPr lang="en-US" sz="2200" b="1" dirty="0">
                <a:solidFill>
                  <a:schemeClr val="tx1"/>
                </a:solidFill>
                <a:latin typeface="Times New Roman" panose="02020603050405020304" pitchFamily="18" charset="0"/>
                <a:cs typeface="Times New Roman" panose="02020603050405020304" pitchFamily="18" charset="0"/>
              </a:rPr>
              <a:t>Trip Scheduling:</a:t>
            </a:r>
            <a:r>
              <a:rPr lang="en-US" sz="2200" dirty="0">
                <a:solidFill>
                  <a:schemeClr val="tx1"/>
                </a:solidFill>
                <a:latin typeface="Times New Roman" panose="02020603050405020304" pitchFamily="18" charset="0"/>
                <a:cs typeface="Times New Roman" panose="02020603050405020304" pitchFamily="18" charset="0"/>
              </a:rPr>
              <a:t> Schedule trips on specific routes and dates specifically for the buses they own. </a:t>
            </a:r>
          </a:p>
          <a:p>
            <a:r>
              <a:rPr lang="en-US" sz="2200" b="1" dirty="0">
                <a:solidFill>
                  <a:schemeClr val="tx1"/>
                </a:solidFill>
                <a:latin typeface="Times New Roman" panose="02020603050405020304" pitchFamily="18" charset="0"/>
                <a:cs typeface="Times New Roman" panose="02020603050405020304" pitchFamily="18" charset="0"/>
              </a:rPr>
              <a:t>Booking Oversight:</a:t>
            </a:r>
            <a:r>
              <a:rPr lang="en-US" sz="2200" dirty="0">
                <a:solidFill>
                  <a:schemeClr val="tx1"/>
                </a:solidFill>
                <a:latin typeface="Times New Roman" panose="02020603050405020304" pitchFamily="18" charset="0"/>
                <a:cs typeface="Times New Roman" panose="02020603050405020304" pitchFamily="18" charset="0"/>
              </a:rPr>
              <a:t> View a list of all passengers who have booked tickets exclusively for their buses. </a:t>
            </a:r>
          </a:p>
          <a:p>
            <a:r>
              <a:rPr lang="en-US" sz="2200" b="1" dirty="0">
                <a:solidFill>
                  <a:schemeClr val="tx1"/>
                </a:solidFill>
                <a:latin typeface="Times New Roman" panose="02020603050405020304" pitchFamily="18" charset="0"/>
                <a:cs typeface="Times New Roman" panose="02020603050405020304" pitchFamily="18" charset="0"/>
              </a:rPr>
              <a:t>Operational Dashboard:</a:t>
            </a:r>
            <a:r>
              <a:rPr lang="en-US" sz="2200" dirty="0">
                <a:solidFill>
                  <a:schemeClr val="tx1"/>
                </a:solidFill>
                <a:latin typeface="Times New Roman" panose="02020603050405020304" pitchFamily="18" charset="0"/>
                <a:cs typeface="Times New Roman" panose="02020603050405020304" pitchFamily="18" charset="0"/>
              </a:rPr>
              <a:t> Track their own ticket sales, active scheduled trips, and revenue statistics without seeing the entire system's finances.</a:t>
            </a:r>
          </a:p>
        </p:txBody>
      </p:sp>
    </p:spTree>
    <p:extLst>
      <p:ext uri="{BB962C8B-B14F-4D97-AF65-F5344CB8AC3E}">
        <p14:creationId xmlns:p14="http://schemas.microsoft.com/office/powerpoint/2010/main" val="4207674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6FCFB-06BC-BF3A-CB06-6443D6D1FC52}"/>
              </a:ext>
            </a:extLst>
          </p:cNvPr>
          <p:cNvSpPr>
            <a:spLocks noGrp="1"/>
          </p:cNvSpPr>
          <p:nvPr>
            <p:ph type="title"/>
          </p:nvPr>
        </p:nvSpPr>
        <p:spPr>
          <a:xfrm>
            <a:off x="677334" y="609600"/>
            <a:ext cx="8596668" cy="705853"/>
          </a:xfrm>
        </p:spPr>
        <p:txBody>
          <a:bodyPr/>
          <a:lstStyle/>
          <a:p>
            <a:r>
              <a:rPr lang="en-IN" dirty="0"/>
              <a:t>Bus Operator Dashboard</a:t>
            </a:r>
          </a:p>
        </p:txBody>
      </p:sp>
      <p:pic>
        <p:nvPicPr>
          <p:cNvPr id="5" name="Picture 4">
            <a:extLst>
              <a:ext uri="{FF2B5EF4-FFF2-40B4-BE49-F238E27FC236}">
                <a16:creationId xmlns:a16="http://schemas.microsoft.com/office/drawing/2014/main" id="{8BA805C7-B7F5-DC9C-1A80-42314E5FC132}"/>
              </a:ext>
            </a:extLst>
          </p:cNvPr>
          <p:cNvPicPr>
            <a:picLocks noChangeAspect="1"/>
          </p:cNvPicPr>
          <p:nvPr/>
        </p:nvPicPr>
        <p:blipFill>
          <a:blip r:embed="rId2"/>
          <a:stretch>
            <a:fillRect/>
          </a:stretch>
        </p:blipFill>
        <p:spPr>
          <a:xfrm>
            <a:off x="320842" y="1315453"/>
            <a:ext cx="10860505" cy="4932947"/>
          </a:xfrm>
          <a:prstGeom prst="rect">
            <a:avLst/>
          </a:prstGeom>
        </p:spPr>
      </p:pic>
    </p:spTree>
    <p:extLst>
      <p:ext uri="{BB962C8B-B14F-4D97-AF65-F5344CB8AC3E}">
        <p14:creationId xmlns:p14="http://schemas.microsoft.com/office/powerpoint/2010/main" val="655377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F4C0C-2A48-6495-848A-73778592C14B}"/>
              </a:ext>
            </a:extLst>
          </p:cNvPr>
          <p:cNvSpPr>
            <a:spLocks noGrp="1"/>
          </p:cNvSpPr>
          <p:nvPr>
            <p:ph type="title"/>
          </p:nvPr>
        </p:nvSpPr>
        <p:spPr>
          <a:xfrm>
            <a:off x="677334" y="609600"/>
            <a:ext cx="8596668" cy="850232"/>
          </a:xfrm>
        </p:spPr>
        <p:txBody>
          <a:bodyPr>
            <a:normAutofit/>
          </a:bodyPr>
          <a:lstStyle/>
          <a:p>
            <a:pPr algn="ctr"/>
            <a:r>
              <a:rPr lang="en-IN" sz="4400" dirty="0">
                <a:solidFill>
                  <a:schemeClr val="accent6"/>
                </a:solidFill>
              </a:rPr>
              <a:t>Thank You</a:t>
            </a:r>
          </a:p>
        </p:txBody>
      </p:sp>
      <p:pic>
        <p:nvPicPr>
          <p:cNvPr id="7" name="Picture 6">
            <a:extLst>
              <a:ext uri="{FF2B5EF4-FFF2-40B4-BE49-F238E27FC236}">
                <a16:creationId xmlns:a16="http://schemas.microsoft.com/office/drawing/2014/main" id="{F2C90AF7-CCB9-5686-ED98-ADB216F9CB23}"/>
              </a:ext>
            </a:extLst>
          </p:cNvPr>
          <p:cNvPicPr>
            <a:picLocks noChangeAspect="1"/>
          </p:cNvPicPr>
          <p:nvPr/>
        </p:nvPicPr>
        <p:blipFill>
          <a:blip r:embed="rId2"/>
          <a:stretch>
            <a:fillRect/>
          </a:stretch>
        </p:blipFill>
        <p:spPr>
          <a:xfrm>
            <a:off x="368968" y="1459831"/>
            <a:ext cx="11438021" cy="5029015"/>
          </a:xfrm>
          <a:prstGeom prst="rect">
            <a:avLst/>
          </a:prstGeom>
        </p:spPr>
      </p:pic>
    </p:spTree>
    <p:extLst>
      <p:ext uri="{BB962C8B-B14F-4D97-AF65-F5344CB8AC3E}">
        <p14:creationId xmlns:p14="http://schemas.microsoft.com/office/powerpoint/2010/main" val="414924481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110</TotalTime>
  <Words>562</Words>
  <Application>Microsoft Office PowerPoint</Application>
  <PresentationFormat>Widescreen</PresentationFormat>
  <Paragraphs>46</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Times New Roman</vt:lpstr>
      <vt:lpstr>Trebuchet MS</vt:lpstr>
      <vt:lpstr>Wingdings</vt:lpstr>
      <vt:lpstr>Wingdings 3</vt:lpstr>
      <vt:lpstr>Facet</vt:lpstr>
      <vt:lpstr>BUS TICKET BOOKING SYSTEM- FastX</vt:lpstr>
      <vt:lpstr>Technologies, Tools Used:</vt:lpstr>
      <vt:lpstr>Introduction</vt:lpstr>
      <vt:lpstr>ER Diagram</vt:lpstr>
      <vt:lpstr>Use Case Diagram</vt:lpstr>
      <vt:lpstr>Customer </vt:lpstr>
      <vt:lpstr>Login &amp; Register Pages</vt:lpstr>
      <vt:lpstr>Customer Home Page</vt:lpstr>
      <vt:lpstr>Seat Selection &amp; Payment Pages</vt:lpstr>
      <vt:lpstr>Customer My Trips &amp;Cancel Ticket Pages</vt:lpstr>
      <vt:lpstr>Admin Role</vt:lpstr>
      <vt:lpstr>Admin Dashboard</vt:lpstr>
      <vt:lpstr>Bus Operator Role</vt:lpstr>
      <vt:lpstr>Bus Operator Dashboard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NISHIDA BOREDDY</dc:creator>
  <cp:lastModifiedBy>NISHIDA BOREDDY</cp:lastModifiedBy>
  <cp:revision>2</cp:revision>
  <dcterms:created xsi:type="dcterms:W3CDTF">2026-04-01T03:33:42Z</dcterms:created>
  <dcterms:modified xsi:type="dcterms:W3CDTF">2026-04-01T05:24:31Z</dcterms:modified>
</cp:coreProperties>
</file>